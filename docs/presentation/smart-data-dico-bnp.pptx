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</p:sldIdLst>
  <p:notesMasterIdLst>
    <p:notesMasterId r:id="rId7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notesMaster" Target="notesMasters/notesMaster1.xml"/><Relationship Id="rId8" Type="http://schemas.openxmlformats.org/officeDocument/2006/relationships/presProps" Target="presProps.xml"/><Relationship Id="rId9" Type="http://schemas.openxmlformats.org/officeDocument/2006/relationships/viewProps" Target="viewProps.xml"/><Relationship Id="rId10" Type="http://schemas.openxmlformats.org/officeDocument/2006/relationships/theme" Target="theme/theme1.xml"/><Relationship Id="rId1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0965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966960" y="822960"/>
            <a:ext cx="1371600" cy="1371600"/>
          </a:xfrm>
          <a:prstGeom prst="star4">
            <a:avLst/>
          </a:prstGeom>
          <a:solidFill>
            <a:srgbClr val="FFFFFF">
              <a:alpha val="55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0972800" y="2194560"/>
            <a:ext cx="731520" cy="731520"/>
          </a:xfrm>
          <a:prstGeom prst="star4">
            <a:avLst/>
          </a:prstGeom>
          <a:solidFill>
            <a:srgbClr val="FFFFFF">
              <a:alpha val="45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8869680" y="3749040"/>
            <a:ext cx="548640" cy="548640"/>
          </a:xfrm>
          <a:prstGeom prst="star4">
            <a:avLst/>
          </a:prstGeom>
          <a:solidFill>
            <a:srgbClr val="FFFFFF">
              <a:alpha val="40000"/>
            </a:srgbClr>
          </a:solidFill>
          <a:ln/>
        </p:spPr>
      </p:sp>
      <p:sp>
        <p:nvSpPr>
          <p:cNvPr id="5" name="Shape 3"/>
          <p:cNvSpPr/>
          <p:nvPr/>
        </p:nvSpPr>
        <p:spPr>
          <a:xfrm>
            <a:off x="11338560" y="4572000"/>
            <a:ext cx="1005840" cy="1005840"/>
          </a:xfrm>
          <a:prstGeom prst="star4">
            <a:avLst/>
          </a:prstGeom>
          <a:solidFill>
            <a:srgbClr val="FFFFFF">
              <a:alpha val="30000"/>
            </a:srgbClr>
          </a:solidFill>
          <a:ln/>
        </p:spPr>
      </p:sp>
      <p:sp>
        <p:nvSpPr>
          <p:cNvPr id="6" name="Shape 4"/>
          <p:cNvSpPr/>
          <p:nvPr/>
        </p:nvSpPr>
        <p:spPr>
          <a:xfrm>
            <a:off x="7955280" y="1828800"/>
            <a:ext cx="411480" cy="411480"/>
          </a:xfrm>
          <a:prstGeom prst="star4">
            <a:avLst/>
          </a:prstGeom>
          <a:solidFill>
            <a:srgbClr val="FFFFFF">
              <a:alpha val="50000"/>
            </a:srgbClr>
          </a:solidFill>
          <a:ln/>
        </p:spPr>
      </p:sp>
      <p:sp>
        <p:nvSpPr>
          <p:cNvPr id="7" name="Text 5"/>
          <p:cNvSpPr/>
          <p:nvPr/>
        </p:nvSpPr>
        <p:spPr>
          <a:xfrm>
            <a:off x="777240" y="1371600"/>
            <a:ext cx="1063447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CFEED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DATA MODELLING &amp; GOVERNANCE PLATFORM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777240" y="1828800"/>
            <a:ext cx="960120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Smart Data Dictionary</a:t>
            </a:r>
            <a:endParaRPr lang="en-US" sz="5400" dirty="0"/>
          </a:p>
        </p:txBody>
      </p:sp>
      <p:sp>
        <p:nvSpPr>
          <p:cNvPr id="9" name="Text 7"/>
          <p:cNvSpPr/>
          <p:nvPr/>
        </p:nvSpPr>
        <p:spPr>
          <a:xfrm>
            <a:off x="777240" y="3383280"/>
            <a:ext cx="841248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900" dirty="0">
                <a:solidFill>
                  <a:srgbClr val="EAFFF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See the whole system — capture the data model, the use cases, and the processes behind it, in one living, shared, governed model.</a:t>
            </a:r>
            <a:endParaRPr lang="en-US" sz="1900" dirty="0"/>
          </a:p>
        </p:txBody>
      </p:sp>
      <p:sp>
        <p:nvSpPr>
          <p:cNvPr id="10" name="Shape 8"/>
          <p:cNvSpPr/>
          <p:nvPr/>
        </p:nvSpPr>
        <p:spPr>
          <a:xfrm>
            <a:off x="777240" y="5029200"/>
            <a:ext cx="2606040" cy="457200"/>
          </a:xfrm>
          <a:prstGeom prst="roundRect">
            <a:avLst>
              <a:gd name="adj" fmla="val 50000"/>
            </a:avLst>
          </a:prstGeom>
          <a:ln w="12700">
            <a:solidFill>
              <a:srgbClr val="FFFFFF">
                <a:alpha val="55000"/>
              </a:srgbClr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77240" y="5029200"/>
            <a:ext cx="2606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Prepared for BNP Paribas</a:t>
            </a:r>
            <a:endParaRPr lang="en-US" sz="1250" dirty="0"/>
          </a:p>
        </p:txBody>
      </p:sp>
      <p:sp>
        <p:nvSpPr>
          <p:cNvPr id="12" name="Text 10"/>
          <p:cNvSpPr/>
          <p:nvPr/>
        </p:nvSpPr>
        <p:spPr>
          <a:xfrm>
            <a:off x="3566160" y="5029200"/>
            <a:ext cx="4572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DFF7E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Visibility into complex systems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77240" y="502920"/>
            <a:ext cx="1063447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0965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CHALLENGE &amp; THE GOAL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777240" y="841248"/>
            <a:ext cx="10634472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5241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Complex systems lose their shared picture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777240" y="1828800"/>
            <a:ext cx="4951476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5B6B6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TODAY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6460236" y="1828800"/>
            <a:ext cx="4951476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100" kern="0" dirty="0">
                <a:solidFill>
                  <a:srgbClr val="00965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WITH SMART DATA DICTIONARY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777240" y="2286000"/>
            <a:ext cx="4951476" cy="3474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228600" indent="-228600">
              <a:lnSpc>
                <a:spcPct val="110000"/>
              </a:lnSpc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5B6B6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Knowledge scattered across services, schemas, slides &amp; people</a:t>
            </a:r>
            <a:endParaRPr lang="en-US" sz="1600" dirty="0"/>
          </a:p>
          <a:p>
            <a:pPr marL="228600" indent="-228600">
              <a:lnSpc>
                <a:spcPct val="110000"/>
              </a:lnSpc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5B6B6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 single source of truth — diagrams drift from reality</a:t>
            </a:r>
            <a:endParaRPr lang="en-US" sz="1600" dirty="0"/>
          </a:p>
          <a:p>
            <a:pPr marL="228600" indent="-228600">
              <a:lnSpc>
                <a:spcPct val="110000"/>
              </a:lnSpc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5B6B6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Hard to see how data, rules &amp; lifecycles connect</a:t>
            </a:r>
            <a:endParaRPr lang="en-US" sz="1600" dirty="0"/>
          </a:p>
          <a:p>
            <a:pPr marL="228600" indent="-228600">
              <a:lnSpc>
                <a:spcPct val="110000"/>
              </a:lnSpc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5B6B6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Governance &amp; impact analysis are manual and slow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6460236" y="2286000"/>
            <a:ext cx="4951476" cy="3474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228600" indent="-228600">
              <a:lnSpc>
                <a:spcPct val="110000"/>
              </a:lnSpc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15241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One living model of the whole landscape</a:t>
            </a:r>
            <a:endParaRPr lang="en-US" sz="1600" dirty="0"/>
          </a:p>
          <a:p>
            <a:pPr marL="228600" indent="-228600">
              <a:lnSpc>
                <a:spcPct val="110000"/>
              </a:lnSpc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15241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Version-controlled in git — auditable, reviewable, shareable</a:t>
            </a:r>
            <a:endParaRPr lang="en-US" sz="1600" dirty="0"/>
          </a:p>
          <a:p>
            <a:pPr marL="228600" indent="-228600">
              <a:lnSpc>
                <a:spcPct val="110000"/>
              </a:lnSpc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15241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Data, business rules and processes captured together</a:t>
            </a:r>
            <a:endParaRPr lang="en-US" sz="1600" dirty="0"/>
          </a:p>
          <a:p>
            <a:pPr marL="228600" indent="-228600">
              <a:lnSpc>
                <a:spcPct val="110000"/>
              </a:lnSpc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15241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Visibility &amp; impact at a glance, for every stakeholder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6048756" y="1828800"/>
            <a:ext cx="54864" cy="3566160"/>
          </a:xfrm>
          <a:prstGeom prst="rect">
            <a:avLst/>
          </a:prstGeom>
          <a:solidFill>
            <a:srgbClr val="E3EEE8"/>
          </a:solidFill>
          <a:ln/>
        </p:spPr>
      </p:sp>
      <p:sp>
        <p:nvSpPr>
          <p:cNvPr id="9" name="Shape 7"/>
          <p:cNvSpPr/>
          <p:nvPr/>
        </p:nvSpPr>
        <p:spPr>
          <a:xfrm>
            <a:off x="777240" y="6355080"/>
            <a:ext cx="10634472" cy="0"/>
          </a:xfrm>
          <a:prstGeom prst="line">
            <a:avLst/>
          </a:prstGeom>
          <a:noFill/>
          <a:ln w="12700">
            <a:solidFill>
              <a:srgbClr val="E3EEE8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77240" y="640080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5241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Smart Data Dictionary</a:t>
            </a:r>
            <a:pPr algn="l" indent="0" marL="0">
              <a:buNone/>
            </a:pPr>
            <a:r>
              <a:rPr lang="en-US" sz="1000" dirty="0">
                <a:solidFill>
                  <a:srgbClr val="5B6B6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·  Prepared for BNP Paribas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10040112" y="640080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B6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 / 5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77240" y="502920"/>
            <a:ext cx="1063447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0965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ONE MODEL, THREE CONNECTED FACETS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777240" y="841248"/>
            <a:ext cx="10634472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5241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Capture the full picture of a system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777240" y="1508760"/>
            <a:ext cx="10634472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600" dirty="0">
                <a:solidFill>
                  <a:srgbClr val="5B6B6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Most tools stop at boxes and lines. Smart Data Dictionary models what the data is, how the business uses it, and how it behaves over time.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777240" y="2331720"/>
            <a:ext cx="3300984" cy="3383280"/>
          </a:xfrm>
          <a:prstGeom prst="roundRect">
            <a:avLst>
              <a:gd name="adj" fmla="val 3324"/>
            </a:avLst>
          </a:prstGeom>
          <a:solidFill>
            <a:srgbClr val="F4F9F6"/>
          </a:solidFill>
          <a:ln w="12700">
            <a:solidFill>
              <a:srgbClr val="E3EEE8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77240" y="2331720"/>
            <a:ext cx="73152" cy="3383280"/>
          </a:xfrm>
          <a:prstGeom prst="rect">
            <a:avLst/>
          </a:prstGeom>
          <a:solidFill>
            <a:srgbClr val="00965E"/>
          </a:solidFill>
          <a:ln/>
        </p:spPr>
      </p:sp>
      <p:sp>
        <p:nvSpPr>
          <p:cNvPr id="7" name="Shape 5"/>
          <p:cNvSpPr/>
          <p:nvPr/>
        </p:nvSpPr>
        <p:spPr>
          <a:xfrm>
            <a:off x="1051560" y="2624328"/>
            <a:ext cx="502920" cy="502920"/>
          </a:xfrm>
          <a:prstGeom prst="roundRect">
            <a:avLst>
              <a:gd name="adj" fmla="val 14545"/>
            </a:avLst>
          </a:prstGeom>
          <a:solidFill>
            <a:srgbClr val="00965E"/>
          </a:solidFill>
          <a:ln/>
        </p:spPr>
      </p:sp>
      <p:sp>
        <p:nvSpPr>
          <p:cNvPr id="8" name="Text 6"/>
          <p:cNvSpPr/>
          <p:nvPr/>
        </p:nvSpPr>
        <p:spPr>
          <a:xfrm>
            <a:off x="1051560" y="2624328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◧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1051560" y="3291840"/>
            <a:ext cx="275234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5241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Data model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1051560" y="3749040"/>
            <a:ext cx="2752344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5B6B6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Packages, entities &amp; typed attributes with validation, relationships, DB-enforced constraints and reusable derived types.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1051560" y="5029200"/>
            <a:ext cx="275234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0734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Entities  </a:t>
            </a:r>
            <a:pPr indent="0" marL="0">
              <a:buNone/>
            </a:pPr>
            <a:r>
              <a:rPr lang="en-US" sz="800" dirty="0">
                <a:solidFill>
                  <a:srgbClr val="00000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</a:t>
            </a:r>
            <a:pPr indent="0" marL="0">
              <a:buNone/>
            </a:pPr>
            <a:r>
              <a:rPr lang="en-US" sz="1050" b="1" dirty="0">
                <a:solidFill>
                  <a:srgbClr val="00734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Relationships  </a:t>
            </a:r>
            <a:pPr indent="0" marL="0">
              <a:buNone/>
            </a:pPr>
            <a:r>
              <a:rPr lang="en-US" sz="800" dirty="0">
                <a:solidFill>
                  <a:srgbClr val="00000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</a:t>
            </a:r>
            <a:pPr indent="0" marL="0">
              <a:buNone/>
            </a:pPr>
            <a:r>
              <a:rPr lang="en-US" sz="1050" b="1" dirty="0">
                <a:solidFill>
                  <a:srgbClr val="00734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Validation  </a:t>
            </a:r>
            <a:pPr indent="0" marL="0">
              <a:buNone/>
            </a:pPr>
            <a:r>
              <a:rPr lang="en-US" sz="800" dirty="0">
                <a:solidFill>
                  <a:srgbClr val="00000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</a:t>
            </a:r>
            <a:pPr indent="0" marL="0">
              <a:buNone/>
            </a:pPr>
            <a:r>
              <a:rPr lang="en-US" sz="1050" b="1" dirty="0">
                <a:solidFill>
                  <a:srgbClr val="00734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Constraints  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4443984" y="2331720"/>
            <a:ext cx="3300984" cy="3383280"/>
          </a:xfrm>
          <a:prstGeom prst="roundRect">
            <a:avLst>
              <a:gd name="adj" fmla="val 3324"/>
            </a:avLst>
          </a:prstGeom>
          <a:solidFill>
            <a:srgbClr val="F4F9F6"/>
          </a:solidFill>
          <a:ln w="12700">
            <a:solidFill>
              <a:srgbClr val="E3EEE8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443984" y="2331720"/>
            <a:ext cx="73152" cy="3383280"/>
          </a:xfrm>
          <a:prstGeom prst="rect">
            <a:avLst/>
          </a:prstGeom>
          <a:solidFill>
            <a:srgbClr val="00965E"/>
          </a:solidFill>
          <a:ln/>
        </p:spPr>
      </p:sp>
      <p:sp>
        <p:nvSpPr>
          <p:cNvPr id="14" name="Shape 12"/>
          <p:cNvSpPr/>
          <p:nvPr/>
        </p:nvSpPr>
        <p:spPr>
          <a:xfrm>
            <a:off x="4718304" y="2624328"/>
            <a:ext cx="502920" cy="502920"/>
          </a:xfrm>
          <a:prstGeom prst="roundRect">
            <a:avLst>
              <a:gd name="adj" fmla="val 14545"/>
            </a:avLst>
          </a:prstGeom>
          <a:solidFill>
            <a:srgbClr val="00965E"/>
          </a:solidFill>
          <a:ln/>
        </p:spPr>
      </p:sp>
      <p:sp>
        <p:nvSpPr>
          <p:cNvPr id="15" name="Text 13"/>
          <p:cNvSpPr/>
          <p:nvPr/>
        </p:nvSpPr>
        <p:spPr>
          <a:xfrm>
            <a:off x="4718304" y="2624328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★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4718304" y="3291840"/>
            <a:ext cx="275234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5241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Use cases &amp; views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4718304" y="3749040"/>
            <a:ext cx="2752344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5B6B6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Business "cases" and perspectives resolve a focused sub-model from any starting point — the view each audience needs.</a:t>
            </a:r>
            <a:endParaRPr lang="en-US" sz="1350" dirty="0"/>
          </a:p>
        </p:txBody>
      </p:sp>
      <p:sp>
        <p:nvSpPr>
          <p:cNvPr id="18" name="Text 16"/>
          <p:cNvSpPr/>
          <p:nvPr/>
        </p:nvSpPr>
        <p:spPr>
          <a:xfrm>
            <a:off x="4718304" y="5029200"/>
            <a:ext cx="275234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0734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Cases  </a:t>
            </a:r>
            <a:pPr indent="0" marL="0">
              <a:buNone/>
            </a:pPr>
            <a:r>
              <a:rPr lang="en-US" sz="800" dirty="0">
                <a:solidFill>
                  <a:srgbClr val="00000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</a:t>
            </a:r>
            <a:pPr indent="0" marL="0">
              <a:buNone/>
            </a:pPr>
            <a:r>
              <a:rPr lang="en-US" sz="1050" b="1" dirty="0">
                <a:solidFill>
                  <a:srgbClr val="00734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Perspectives  </a:t>
            </a:r>
            <a:pPr indent="0" marL="0">
              <a:buNone/>
            </a:pPr>
            <a:r>
              <a:rPr lang="en-US" sz="800" dirty="0">
                <a:solidFill>
                  <a:srgbClr val="00000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</a:t>
            </a:r>
            <a:pPr indent="0" marL="0">
              <a:buNone/>
            </a:pPr>
            <a:r>
              <a:rPr lang="en-US" sz="1050" b="1" dirty="0">
                <a:solidFill>
                  <a:srgbClr val="00734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Business rules  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8110728" y="2331720"/>
            <a:ext cx="3300984" cy="3383280"/>
          </a:xfrm>
          <a:prstGeom prst="roundRect">
            <a:avLst>
              <a:gd name="adj" fmla="val 3324"/>
            </a:avLst>
          </a:prstGeom>
          <a:solidFill>
            <a:srgbClr val="F4F9F6"/>
          </a:solidFill>
          <a:ln w="12700">
            <a:solidFill>
              <a:srgbClr val="E3EEE8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8110728" y="2331720"/>
            <a:ext cx="73152" cy="3383280"/>
          </a:xfrm>
          <a:prstGeom prst="rect">
            <a:avLst/>
          </a:prstGeom>
          <a:solidFill>
            <a:srgbClr val="00965E"/>
          </a:solidFill>
          <a:ln/>
        </p:spPr>
      </p:sp>
      <p:sp>
        <p:nvSpPr>
          <p:cNvPr id="21" name="Shape 19"/>
          <p:cNvSpPr/>
          <p:nvPr/>
        </p:nvSpPr>
        <p:spPr>
          <a:xfrm>
            <a:off x="8385048" y="2624328"/>
            <a:ext cx="502920" cy="502920"/>
          </a:xfrm>
          <a:prstGeom prst="roundRect">
            <a:avLst>
              <a:gd name="adj" fmla="val 14545"/>
            </a:avLst>
          </a:prstGeom>
          <a:solidFill>
            <a:srgbClr val="00965E"/>
          </a:solidFill>
          <a:ln/>
        </p:spPr>
      </p:sp>
      <p:sp>
        <p:nvSpPr>
          <p:cNvPr id="22" name="Text 20"/>
          <p:cNvSpPr/>
          <p:nvPr/>
        </p:nvSpPr>
        <p:spPr>
          <a:xfrm>
            <a:off x="8385048" y="2624328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⮎</a:t>
            </a:r>
            <a:endParaRPr lang="en-US" sz="1800" dirty="0"/>
          </a:p>
        </p:txBody>
      </p:sp>
      <p:sp>
        <p:nvSpPr>
          <p:cNvPr id="23" name="Text 21"/>
          <p:cNvSpPr/>
          <p:nvPr/>
        </p:nvSpPr>
        <p:spPr>
          <a:xfrm>
            <a:off x="8385048" y="3291840"/>
            <a:ext cx="275234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5241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Process &amp; state machines</a:t>
            </a:r>
            <a:endParaRPr lang="en-US" sz="1800" dirty="0"/>
          </a:p>
        </p:txBody>
      </p:sp>
      <p:sp>
        <p:nvSpPr>
          <p:cNvPr id="24" name="Text 22"/>
          <p:cNvSpPr/>
          <p:nvPr/>
        </p:nvSpPr>
        <p:spPr>
          <a:xfrm>
            <a:off x="8385048" y="3749040"/>
            <a:ext cx="2752344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5B6B6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Model an entity's lifecycle — states, transitions, guards and the actions/events fired along the way. Behaviour, not just structure.</a:t>
            </a:r>
            <a:endParaRPr lang="en-US" sz="1350" dirty="0"/>
          </a:p>
        </p:txBody>
      </p:sp>
      <p:sp>
        <p:nvSpPr>
          <p:cNvPr id="25" name="Text 23"/>
          <p:cNvSpPr/>
          <p:nvPr/>
        </p:nvSpPr>
        <p:spPr>
          <a:xfrm>
            <a:off x="8385048" y="5029200"/>
            <a:ext cx="275234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0734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State machines  </a:t>
            </a:r>
            <a:pPr indent="0" marL="0">
              <a:buNone/>
            </a:pPr>
            <a:r>
              <a:rPr lang="en-US" sz="800" dirty="0">
                <a:solidFill>
                  <a:srgbClr val="00000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</a:t>
            </a:r>
            <a:pPr indent="0" marL="0">
              <a:buNone/>
            </a:pPr>
            <a:r>
              <a:rPr lang="en-US" sz="1050" b="1" dirty="0">
                <a:solidFill>
                  <a:srgbClr val="00734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Transitions  </a:t>
            </a:r>
            <a:pPr indent="0" marL="0">
              <a:buNone/>
            </a:pPr>
            <a:r>
              <a:rPr lang="en-US" sz="800" dirty="0">
                <a:solidFill>
                  <a:srgbClr val="00000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</a:t>
            </a:r>
            <a:pPr indent="0" marL="0">
              <a:buNone/>
            </a:pPr>
            <a:r>
              <a:rPr lang="en-US" sz="1050" b="1" dirty="0">
                <a:solidFill>
                  <a:srgbClr val="00734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Actions  </a:t>
            </a:r>
            <a:endParaRPr lang="en-US" sz="1050" dirty="0"/>
          </a:p>
        </p:txBody>
      </p:sp>
      <p:sp>
        <p:nvSpPr>
          <p:cNvPr id="26" name="Shape 24"/>
          <p:cNvSpPr/>
          <p:nvPr/>
        </p:nvSpPr>
        <p:spPr>
          <a:xfrm>
            <a:off x="777240" y="6355080"/>
            <a:ext cx="10634472" cy="0"/>
          </a:xfrm>
          <a:prstGeom prst="line">
            <a:avLst/>
          </a:prstGeom>
          <a:noFill/>
          <a:ln w="12700">
            <a:solidFill>
              <a:srgbClr val="E3EEE8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777240" y="640080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5241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Smart Data Dictionary</a:t>
            </a:r>
            <a:pPr algn="l" indent="0" marL="0">
              <a:buNone/>
            </a:pPr>
            <a:r>
              <a:rPr lang="en-US" sz="1000" dirty="0">
                <a:solidFill>
                  <a:srgbClr val="5B6B6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·  Prepared for BNP Paribas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10040112" y="640080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B6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 / 5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77240" y="502920"/>
            <a:ext cx="1063447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0965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 PLATFORM, NOT A DRAWING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777240" y="841248"/>
            <a:ext cx="10634472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5241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Built for governance at scale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777240" y="1828800"/>
            <a:ext cx="3331464" cy="1783080"/>
          </a:xfrm>
          <a:prstGeom prst="roundRect">
            <a:avLst>
              <a:gd name="adj" fmla="val 5128"/>
            </a:avLst>
          </a:prstGeom>
          <a:solidFill>
            <a:srgbClr val="FFFFFF"/>
          </a:solidFill>
          <a:ln w="12700">
            <a:solidFill>
              <a:srgbClr val="E3EEE8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033272" y="2103120"/>
            <a:ext cx="384048" cy="384048"/>
          </a:xfrm>
          <a:prstGeom prst="roundRect">
            <a:avLst>
              <a:gd name="adj" fmla="val 16667"/>
            </a:avLst>
          </a:prstGeom>
          <a:solidFill>
            <a:srgbClr val="E2F3EA"/>
          </a:solidFill>
          <a:ln/>
        </p:spPr>
      </p:sp>
      <p:sp>
        <p:nvSpPr>
          <p:cNvPr id="6" name="Text 4"/>
          <p:cNvSpPr/>
          <p:nvPr/>
        </p:nvSpPr>
        <p:spPr>
          <a:xfrm>
            <a:off x="1033272" y="2103120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00965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✦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554480" y="2066544"/>
            <a:ext cx="2325624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5241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Interactive visualization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1554480" y="2487168"/>
            <a:ext cx="2371344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5B6B6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Explore entities &amp; relationships as a live graph, by package or across the whole model.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4428744" y="1828800"/>
            <a:ext cx="3331464" cy="1783080"/>
          </a:xfrm>
          <a:prstGeom prst="roundRect">
            <a:avLst>
              <a:gd name="adj" fmla="val 5128"/>
            </a:avLst>
          </a:prstGeom>
          <a:solidFill>
            <a:srgbClr val="FFFFFF"/>
          </a:solidFill>
          <a:ln w="12700">
            <a:solidFill>
              <a:srgbClr val="E3EEE8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684776" y="2103120"/>
            <a:ext cx="384048" cy="384048"/>
          </a:xfrm>
          <a:prstGeom prst="roundRect">
            <a:avLst>
              <a:gd name="adj" fmla="val 16667"/>
            </a:avLst>
          </a:prstGeom>
          <a:solidFill>
            <a:srgbClr val="E2F3EA"/>
          </a:solidFill>
          <a:ln/>
        </p:spPr>
      </p:sp>
      <p:sp>
        <p:nvSpPr>
          <p:cNvPr id="11" name="Text 9"/>
          <p:cNvSpPr/>
          <p:nvPr/>
        </p:nvSpPr>
        <p:spPr>
          <a:xfrm>
            <a:off x="4684776" y="2103120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00965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✦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5205984" y="2066544"/>
            <a:ext cx="2325624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5241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Git versioning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5205984" y="2487168"/>
            <a:ext cx="2371344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5B6B6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Every change tracked, diffed, reviewed and published — full history, no database.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8080248" y="1828800"/>
            <a:ext cx="3331464" cy="1783080"/>
          </a:xfrm>
          <a:prstGeom prst="roundRect">
            <a:avLst>
              <a:gd name="adj" fmla="val 5128"/>
            </a:avLst>
          </a:prstGeom>
          <a:solidFill>
            <a:srgbClr val="FFFFFF"/>
          </a:solidFill>
          <a:ln w="12700">
            <a:solidFill>
              <a:srgbClr val="E3EEE8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8336280" y="2103120"/>
            <a:ext cx="384048" cy="384048"/>
          </a:xfrm>
          <a:prstGeom prst="roundRect">
            <a:avLst>
              <a:gd name="adj" fmla="val 16667"/>
            </a:avLst>
          </a:prstGeom>
          <a:solidFill>
            <a:srgbClr val="E2F3EA"/>
          </a:solidFill>
          <a:ln/>
        </p:spPr>
      </p:sp>
      <p:sp>
        <p:nvSpPr>
          <p:cNvPr id="16" name="Text 14"/>
          <p:cNvSpPr/>
          <p:nvPr/>
        </p:nvSpPr>
        <p:spPr>
          <a:xfrm>
            <a:off x="8336280" y="2103120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00965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✦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8857488" y="2066544"/>
            <a:ext cx="2325624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5241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Quality &amp; integrity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8857488" y="2487168"/>
            <a:ext cx="2371344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5B6B6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Validation, constraints and business rules in one pane; documentation scoring.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777240" y="3931920"/>
            <a:ext cx="3331464" cy="1783080"/>
          </a:xfrm>
          <a:prstGeom prst="roundRect">
            <a:avLst>
              <a:gd name="adj" fmla="val 5128"/>
            </a:avLst>
          </a:prstGeom>
          <a:solidFill>
            <a:srgbClr val="FFFFFF"/>
          </a:solidFill>
          <a:ln w="12700">
            <a:solidFill>
              <a:srgbClr val="E3EEE8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033272" y="4206240"/>
            <a:ext cx="384048" cy="384048"/>
          </a:xfrm>
          <a:prstGeom prst="roundRect">
            <a:avLst>
              <a:gd name="adj" fmla="val 16667"/>
            </a:avLst>
          </a:prstGeom>
          <a:solidFill>
            <a:srgbClr val="E2F3EA"/>
          </a:solidFill>
          <a:ln/>
        </p:spPr>
      </p:sp>
      <p:sp>
        <p:nvSpPr>
          <p:cNvPr id="21" name="Text 19"/>
          <p:cNvSpPr/>
          <p:nvPr/>
        </p:nvSpPr>
        <p:spPr>
          <a:xfrm>
            <a:off x="1033272" y="4206240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00965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✦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1554480" y="4169664"/>
            <a:ext cx="2325624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5241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Import &amp; export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1554480" y="4590288"/>
            <a:ext cx="2371344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5B6B6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Export JSON Schema for code-gen; capture physical constraints from SQL DDL / live DBs.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4428744" y="3931920"/>
            <a:ext cx="3331464" cy="1783080"/>
          </a:xfrm>
          <a:prstGeom prst="roundRect">
            <a:avLst>
              <a:gd name="adj" fmla="val 5128"/>
            </a:avLst>
          </a:prstGeom>
          <a:solidFill>
            <a:srgbClr val="FFFFFF"/>
          </a:solidFill>
          <a:ln w="12700">
            <a:solidFill>
              <a:srgbClr val="E3EEE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4684776" y="4206240"/>
            <a:ext cx="384048" cy="384048"/>
          </a:xfrm>
          <a:prstGeom prst="roundRect">
            <a:avLst>
              <a:gd name="adj" fmla="val 16667"/>
            </a:avLst>
          </a:prstGeom>
          <a:solidFill>
            <a:srgbClr val="E2F3EA"/>
          </a:solidFill>
          <a:ln/>
        </p:spPr>
      </p:sp>
      <p:sp>
        <p:nvSpPr>
          <p:cNvPr id="26" name="Text 24"/>
          <p:cNvSpPr/>
          <p:nvPr/>
        </p:nvSpPr>
        <p:spPr>
          <a:xfrm>
            <a:off x="4684776" y="4206240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00965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✦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5205984" y="4169664"/>
            <a:ext cx="2325624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5241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AI assistance</a:t>
            </a:r>
            <a:endParaRPr lang="en-US" sz="1500" dirty="0"/>
          </a:p>
        </p:txBody>
      </p:sp>
      <p:sp>
        <p:nvSpPr>
          <p:cNvPr id="28" name="Text 26"/>
          <p:cNvSpPr/>
          <p:nvPr/>
        </p:nvSpPr>
        <p:spPr>
          <a:xfrm>
            <a:off x="5205984" y="4590288"/>
            <a:ext cx="2371344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5B6B6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In-app chat grounded in your model — author, search and explain, with MCP tools.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8080248" y="3931920"/>
            <a:ext cx="3331464" cy="1783080"/>
          </a:xfrm>
          <a:prstGeom prst="roundRect">
            <a:avLst>
              <a:gd name="adj" fmla="val 5128"/>
            </a:avLst>
          </a:prstGeom>
          <a:solidFill>
            <a:srgbClr val="FFFFFF"/>
          </a:solidFill>
          <a:ln w="12700">
            <a:solidFill>
              <a:srgbClr val="E3EEE8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8336280" y="4206240"/>
            <a:ext cx="384048" cy="384048"/>
          </a:xfrm>
          <a:prstGeom prst="roundRect">
            <a:avLst>
              <a:gd name="adj" fmla="val 16667"/>
            </a:avLst>
          </a:prstGeom>
          <a:solidFill>
            <a:srgbClr val="E2F3EA"/>
          </a:solidFill>
          <a:ln/>
        </p:spPr>
      </p:sp>
      <p:sp>
        <p:nvSpPr>
          <p:cNvPr id="31" name="Text 29"/>
          <p:cNvSpPr/>
          <p:nvPr/>
        </p:nvSpPr>
        <p:spPr>
          <a:xfrm>
            <a:off x="8336280" y="4206240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00965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✦</a:t>
            </a:r>
            <a:endParaRPr lang="en-US" sz="1400" dirty="0"/>
          </a:p>
        </p:txBody>
      </p:sp>
      <p:sp>
        <p:nvSpPr>
          <p:cNvPr id="32" name="Text 30"/>
          <p:cNvSpPr/>
          <p:nvPr/>
        </p:nvSpPr>
        <p:spPr>
          <a:xfrm>
            <a:off x="8857488" y="4169664"/>
            <a:ext cx="2325624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5241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CI validation</a:t>
            </a:r>
            <a:endParaRPr lang="en-US" sz="1500" dirty="0"/>
          </a:p>
        </p:txBody>
      </p:sp>
      <p:sp>
        <p:nvSpPr>
          <p:cNvPr id="33" name="Text 31"/>
          <p:cNvSpPr/>
          <p:nvPr/>
        </p:nvSpPr>
        <p:spPr>
          <a:xfrm>
            <a:off x="8857488" y="4590288"/>
            <a:ext cx="2371344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5B6B6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npx … --validate catches model errors before they ever reach the app.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777240" y="6355080"/>
            <a:ext cx="10634472" cy="0"/>
          </a:xfrm>
          <a:prstGeom prst="line">
            <a:avLst/>
          </a:prstGeom>
          <a:noFill/>
          <a:ln w="12700">
            <a:solidFill>
              <a:srgbClr val="E3EEE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777240" y="640080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5241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Smart Data Dictionary</a:t>
            </a:r>
            <a:pPr algn="l" indent="0" marL="0">
              <a:buNone/>
            </a:pPr>
            <a:r>
              <a:rPr lang="en-US" sz="1000" dirty="0">
                <a:solidFill>
                  <a:srgbClr val="5B6B6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·  Prepared for BNP Paribas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10040112" y="640080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B6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 / 5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4F9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77240" y="502920"/>
            <a:ext cx="1063447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0965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HOW IT WORKS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777240" y="841248"/>
            <a:ext cx="10634472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5241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Lightweight to run, ready to scale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777240" y="1828800"/>
            <a:ext cx="3300984" cy="21945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3EEE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069848" y="2103120"/>
            <a:ext cx="2752344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spc="100" kern="0" dirty="0">
                <a:solidFill>
                  <a:srgbClr val="00965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01 · STORE</a:t>
            </a:r>
            <a:endParaRPr lang="en-US" sz="1250" dirty="0"/>
          </a:p>
        </p:txBody>
      </p:sp>
      <p:sp>
        <p:nvSpPr>
          <p:cNvPr id="6" name="Text 4"/>
          <p:cNvSpPr/>
          <p:nvPr/>
        </p:nvSpPr>
        <p:spPr>
          <a:xfrm>
            <a:off x="1069848" y="2468880"/>
            <a:ext cx="275234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5241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File-based &amp; git-native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1069848" y="2971800"/>
            <a:ext cx="2752344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8000"/>
              </a:lnSpc>
              <a:buNone/>
            </a:pPr>
            <a:r>
              <a:rPr lang="en-US" sz="1300" dirty="0">
                <a:solidFill>
                  <a:srgbClr val="5B6B6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model lives as YAML/JSON in a project folder, versioned with git. No database to operate.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443984" y="1828800"/>
            <a:ext cx="3300984" cy="21945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3EEE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736592" y="2103120"/>
            <a:ext cx="2752344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spc="100" kern="0" dirty="0">
                <a:solidFill>
                  <a:srgbClr val="00965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02 · RUN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4736592" y="2468880"/>
            <a:ext cx="275234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5241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Desktop or server</a:t>
            </a:r>
            <a:endParaRPr lang="en-US" sz="1700" dirty="0"/>
          </a:p>
        </p:txBody>
      </p:sp>
      <p:sp>
        <p:nvSpPr>
          <p:cNvPr id="11" name="Text 9"/>
          <p:cNvSpPr/>
          <p:nvPr/>
        </p:nvSpPr>
        <p:spPr>
          <a:xfrm>
            <a:off x="4736592" y="2971800"/>
            <a:ext cx="2752344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8000"/>
              </a:lnSpc>
              <a:buNone/>
            </a:pPr>
            <a:r>
              <a:rPr lang="en-US" sz="1300" dirty="0">
                <a:solidFill>
                  <a:srgbClr val="5B6B6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Single-user desktop, or a shared multi-user server with roles (admin / editor / viewer).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8110728" y="1828800"/>
            <a:ext cx="3300984" cy="21945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3EEE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403336" y="2103120"/>
            <a:ext cx="2752344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spc="100" kern="0" dirty="0">
                <a:solidFill>
                  <a:srgbClr val="00965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03 · GOVERN</a:t>
            </a:r>
            <a:endParaRPr lang="en-US" sz="1250" dirty="0"/>
          </a:p>
        </p:txBody>
      </p:sp>
      <p:sp>
        <p:nvSpPr>
          <p:cNvPr id="14" name="Text 12"/>
          <p:cNvSpPr/>
          <p:nvPr/>
        </p:nvSpPr>
        <p:spPr>
          <a:xfrm>
            <a:off x="8403336" y="2468880"/>
            <a:ext cx="275234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5241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Review &amp; publish</a:t>
            </a:r>
            <a:endParaRPr lang="en-US" sz="1700" dirty="0"/>
          </a:p>
        </p:txBody>
      </p:sp>
      <p:sp>
        <p:nvSpPr>
          <p:cNvPr id="15" name="Text 13"/>
          <p:cNvSpPr/>
          <p:nvPr/>
        </p:nvSpPr>
        <p:spPr>
          <a:xfrm>
            <a:off x="8403336" y="2971800"/>
            <a:ext cx="2752344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8000"/>
              </a:lnSpc>
              <a:buNone/>
            </a:pPr>
            <a:r>
              <a:rPr lang="en-US" sz="1300" dirty="0">
                <a:solidFill>
                  <a:srgbClr val="5B6B6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Draft → review → approve workflows, quality &amp; integrity gates, impact analysis.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777240" y="4434840"/>
            <a:ext cx="10634472" cy="1143000"/>
          </a:xfrm>
          <a:prstGeom prst="roundRect">
            <a:avLst>
              <a:gd name="adj" fmla="val 11200"/>
            </a:avLst>
          </a:prstGeom>
          <a:solidFill>
            <a:srgbClr val="00965E"/>
          </a:solidFill>
          <a:ln/>
        </p:spPr>
      </p:sp>
      <p:sp>
        <p:nvSpPr>
          <p:cNvPr id="17" name="Text 15"/>
          <p:cNvSpPr/>
          <p:nvPr/>
        </p:nvSpPr>
        <p:spPr>
          <a:xfrm>
            <a:off x="1234440" y="4526280"/>
            <a:ext cx="9720072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Try it in one command   </a:t>
            </a:r>
            <a:pPr indent="0" marL="0">
              <a:buNone/>
            </a:pPr>
            <a:r>
              <a:rPr lang="en-US" sz="1600" dirty="0">
                <a:solidFill>
                  <a:srgbClr val="EAFFF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npx @hamak/smart-data-dico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1234440" y="5029200"/>
            <a:ext cx="9720072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DFF7E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Bring visibility, governance and shared understanding to BNP Paribas’s complex systems.</a:t>
            </a:r>
            <a:endParaRPr lang="en-US" sz="1350" dirty="0"/>
          </a:p>
        </p:txBody>
      </p:sp>
      <p:sp>
        <p:nvSpPr>
          <p:cNvPr id="19" name="Shape 17"/>
          <p:cNvSpPr/>
          <p:nvPr/>
        </p:nvSpPr>
        <p:spPr>
          <a:xfrm>
            <a:off x="777240" y="6355080"/>
            <a:ext cx="10634472" cy="0"/>
          </a:xfrm>
          <a:prstGeom prst="line">
            <a:avLst/>
          </a:prstGeom>
          <a:noFill/>
          <a:ln w="12700">
            <a:solidFill>
              <a:srgbClr val="E3EEE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777240" y="640080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5241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Smart Data Dictionary</a:t>
            </a:r>
            <a:pPr algn="l" indent="0" marL="0">
              <a:buNone/>
            </a:pPr>
            <a:r>
              <a:rPr lang="en-US" sz="1000" dirty="0">
                <a:solidFill>
                  <a:srgbClr val="5B6B6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·  Prepared for BNP Paribas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10040112" y="640080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B6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 / 5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5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Smart Data Dictionary — for BNP Paribas</dc:title>
  <dc:subject>PptxGenJS Presentation</dc:subject>
  <dc:creator>Smart Data Dictionary</dc:creator>
  <cp:lastModifiedBy>Smart Data Dictionary</cp:lastModifiedBy>
  <cp:revision>1</cp:revision>
  <dcterms:created xsi:type="dcterms:W3CDTF">2026-06-05T10:06:23Z</dcterms:created>
  <dcterms:modified xsi:type="dcterms:W3CDTF">2026-06-05T10:06:23Z</dcterms:modified>
</cp:coreProperties>
</file>